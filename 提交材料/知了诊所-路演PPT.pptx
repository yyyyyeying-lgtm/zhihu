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20 秒：不要介绍团队，直接抛问题。</a:t>
            </a:r>
          </a:p>
          <a:p>
            <a:r>
              <a:t>「我先讲一个人。一个大学生在知乎问：普通本科生想进 AI 行业，还有机会吗？」</a:t>
            </a:r>
          </a:p>
          <a:p>
            <a:r>
              <a:t>再说：他搜到 1200 个回答，刷完 200 个之后，只会更焦虑。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秒。重点是那句「他真正的问题可能不是能不能进」。</a:t>
            </a:r>
          </a:p>
          <a:p>
            <a:r>
              <a:t>如果评委是做内容的，他会立刻共鸣：知乎不缺内容，缺的是把内容和人接起来。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秒。这一页是全篇的立论点。</a:t>
            </a:r>
          </a:p>
          <a:p>
            <a:r>
              <a:t>可以补一句：他真正的问题可能根本不是「能不能进」，而是「我是不是已经晚了」。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秒。流程一页带过，重点讲「AI 不开药」这一句。</a:t>
            </a:r>
          </a:p>
          <a:p>
            <a:r>
              <a:t>然后马上抛出三档判定 —— 这是评委最可能记住的差异点。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秒。这是本次作品最重要的差异点。</a:t>
            </a:r>
          </a:p>
          <a:p>
            <a:r>
              <a:t>关键话术：「如果一个 AI 产品对什么问题都说『来，我们认真会诊一下』，它是在骗你走流程。」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秒。这两条是产品的价值观，也是答辩时最容易被追问的地方。</a:t>
            </a:r>
          </a:p>
          <a:p>
            <a:r>
              <a:t>如果被问「AI 会不会抹平讨论」—— 这一页就是答案。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秒。这一页回答评审一定会问的问题：供给从哪来。</a:t>
            </a:r>
          </a:p>
          <a:p>
            <a:r>
              <a:t>落点是最后那句：她的反对意见，同时成了她最好的内容。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秒。这一页是防守页 —— 防止评委觉得你在重新发明轮子。</a:t>
            </a:r>
          </a:p>
          <a:p>
            <a:r>
              <a:t>最后一句是这一页的记忆点：前者是规模，后者是责任。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秒。这一页是加分页。</a:t>
            </a:r>
          </a:p>
          <a:p>
            <a:r>
              <a:t>主动说出「哪些是模拟的」，比含糊过去强得多 —— 而且会诊手记那套是真的在跑。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15 秒。全场只说一次 Slogan，说完停 3 秒再致谢。</a:t>
            </a:r>
          </a:p>
          <a:p>
            <a:r>
              <a:t>不要在这一页再补充任何新信息 —— 收束就要收得干净。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2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ox-doctor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357" y="1531619"/>
            <a:ext cx="4227858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7373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0A5CAD"/>
                </a:solidFill>
                <a:latin typeface="微软雅黑"/>
              </a:rPr>
              <a:t>知 了 诊 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99232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21212"/>
                </a:solidFill>
                <a:latin typeface="微软雅黑"/>
              </a:rPr>
              <a:t>你的问题，挂号了。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46464"/>
                </a:solidFill>
                <a:latin typeface="微软雅黑"/>
              </a:rPr>
              <a:t>把一个人的困惑当作一例病例，由 AI 组织一次真实的会诊 ——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6464"/>
                </a:solidFill>
                <a:latin typeface="微软雅黑"/>
              </a:rPr>
              <a:t>产出一份公开的《会诊结论书》，和一份私密的《行动清单》。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92040"/>
            <a:ext cx="54864" cy="566928"/>
          </a:xfrm>
          <a:prstGeom prst="roundRect">
            <a:avLst>
              <a:gd name="adj" fmla="val 50000"/>
            </a:avLst>
          </a:prstGeom>
          <a:solidFill>
            <a:srgbClr val="00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8920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1212"/>
                </a:solidFill>
                <a:latin typeface="微软雅黑"/>
              </a:rPr>
              <a:t>主诊医生：狐看山医生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AF"/>
                </a:solidFill>
                <a:latin typeface="微软雅黑"/>
              </a:rPr>
              <a:t>参赛赛道：知识炼金场　·　知乎 AI 黑客松 2026 · 校园新锐季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01　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1200 个回答，不是答案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29968"/>
            <a:ext cx="4480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9AA3AF"/>
                </a:solidFill>
                <a:latin typeface="微软雅黑"/>
              </a:rPr>
              <a:t>一位大三学生的提问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121212"/>
                </a:solidFill>
                <a:latin typeface="微软雅黑"/>
              </a:rPr>
              <a:t>「普通本科生想进 AI 行业，还有机会吗？」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他搜到 1,200 个回答。刷完 200 个之后，只会更焦虑。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0084FF"/>
                </a:solidFill>
                <a:latin typeface="微软雅黑"/>
              </a:rPr>
              <a:t>卡在哪里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46464"/>
                </a:solidFill>
                <a:latin typeface="微软雅黑"/>
              </a:rPr>
              <a:t>每个回答都在开药，没有人看过他的病历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46464"/>
                </a:solidFill>
                <a:latin typeface="微软雅黑"/>
              </a:rPr>
              <a:t>存量内容像一间堆满旧化验单的库房：答案都在，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46464"/>
                </a:solidFill>
                <a:latin typeface="微软雅黑"/>
              </a:rPr>
              <a:t>但没有人帮你对症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 w="9525">
            <a:solidFill>
              <a:srgbClr val="00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5CAD"/>
                </a:solidFill>
                <a:latin typeface="微软雅黑"/>
              </a:rPr>
              <a:t>知乎的问题从来不是内容不够，而是内容和一个人的具体处境之间，没有桥。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02　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真问题，从来不是问出来的那个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029200" cy="19659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3AF"/>
                </a:solidFill>
                <a:latin typeface="微软雅黑"/>
              </a:rPr>
              <a:t>表面问题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646464"/>
                </a:solidFill>
                <a:latin typeface="微软雅黑"/>
              </a:rPr>
              <a:t>能不能进 AI 行业？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1403C"/>
                </a:solidFill>
                <a:latin typeface="微软雅黑"/>
              </a:rPr>
              <a:t>真正病灶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21212"/>
                </a:solidFill>
                <a:latin typeface="微软雅黑"/>
              </a:rPr>
              <a:t>我是不是已经晚了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这是焦虑，不是信息缺失。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120640" cy="19659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3AF"/>
                </a:solidFill>
                <a:latin typeface="微软雅黑"/>
              </a:rPr>
              <a:t>常规 AI 做法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646464"/>
                </a:solidFill>
                <a:latin typeface="微软雅黑"/>
              </a:rPr>
              <a:t>更快地生成第 1,201 个答案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84FF"/>
                </a:solidFill>
                <a:latin typeface="微软雅黑"/>
              </a:rPr>
              <a:t>知了诊所的做法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21212"/>
                </a:solidFill>
                <a:latin typeface="微软雅黑"/>
              </a:rPr>
              <a:t>先确诊这是什么问题，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1212"/>
                </a:solidFill>
                <a:latin typeface="微软雅黑"/>
              </a:rPr>
              <a:t>再决定要不要请人来讨论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1480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 w="9525">
            <a:solidFill>
              <a:srgbClr val="FF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159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B8720A"/>
                </a:solidFill>
                <a:latin typeface="微软雅黑"/>
              </a:rPr>
              <a:t>所以我们做的第一件事，是不急着回答。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720A"/>
                </a:solidFill>
                <a:latin typeface="微软雅黑"/>
              </a:rPr>
              <a:t>先判断这个问题值不值得被认真讨论 —— 不值得的时候，直接给你结论。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3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03　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把困惑当病例，走完一次完整的会诊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1426464" cy="868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029968"/>
            <a:ext cx="1207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1212"/>
                </a:solidFill>
                <a:latin typeface="微软雅黑"/>
              </a:rPr>
              <a:t>① 挂号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说清困惑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4288" y="1874519"/>
            <a:ext cx="1426464" cy="868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14016" y="2029968"/>
            <a:ext cx="1207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1212"/>
                </a:solidFill>
                <a:latin typeface="微软雅黑"/>
              </a:rPr>
              <a:t>② 问诊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AI 追问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31336" y="1874519"/>
            <a:ext cx="1426464" cy="868680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41064" y="2029968"/>
            <a:ext cx="1207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A5CAD"/>
                </a:solidFill>
                <a:latin typeface="微软雅黑"/>
              </a:rPr>
              <a:t>③ 分歧地图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争议检测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58384" y="1874519"/>
            <a:ext cx="1426464" cy="868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2029968"/>
            <a:ext cx="1207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1212"/>
                </a:solidFill>
                <a:latin typeface="微软雅黑"/>
              </a:rPr>
              <a:t>④ 会诊邀请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请对的人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85432" y="1874519"/>
            <a:ext cx="1426464" cy="868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029968"/>
            <a:ext cx="1207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1212"/>
                </a:solidFill>
                <a:latin typeface="微软雅黑"/>
              </a:rPr>
              <a:t>⑤ 会诊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真人讨论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74519"/>
            <a:ext cx="1426464" cy="868680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2029968"/>
            <a:ext cx="1207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A5CAD"/>
                </a:solidFill>
                <a:latin typeface="微软雅黑"/>
              </a:rPr>
              <a:t>⑥ 结论书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公开产出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9528" y="1874519"/>
            <a:ext cx="1426464" cy="868680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49256" y="2029968"/>
            <a:ext cx="1207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A5CAD"/>
                </a:solidFill>
                <a:latin typeface="微软雅黑"/>
              </a:rPr>
              <a:t>⑦ 行动清单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私密产出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00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微软雅黑"/>
              </a:rPr>
              <a:t>AI 不开药 —— AI 不替代人回答，AI 组织人对人负责。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15968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21212"/>
                </a:solidFill>
                <a:latin typeface="微软雅黑"/>
              </a:rPr>
              <a:t>但不是所有问题都值得走完这七步。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646464"/>
                </a:solidFill>
                <a:latin typeface="微软雅黑"/>
              </a:rPr>
              <a:t>第 ③ 步「分歧地图」会先给一个判定，把用户分流到三条路上：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0A5CAD"/>
                </a:solidFill>
                <a:latin typeface="微软雅黑"/>
              </a:rPr>
              <a:t>存在真实分歧 → 走完会诊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0F6E56"/>
                </a:solidFill>
                <a:latin typeface="微软雅黑"/>
              </a:rPr>
              <a:t>已确诊（早有共识）→ 直接给结论，不请人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B8720A"/>
                </a:solidFill>
                <a:latin typeface="微软雅黑"/>
              </a:rPr>
              <a:t>信息不足 → 把问题还回社区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4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04　核心机制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产品要会说「这个问题不用会诊」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401568" cy="2880360"/>
          </a:xfrm>
          <a:prstGeom prst="roundRect">
            <a:avLst>
              <a:gd name="adj" fmla="val 6000"/>
            </a:avLst>
          </a:prstGeom>
          <a:solidFill>
            <a:srgbClr val="E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84831"/>
            <a:ext cx="28529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0F6E56"/>
                </a:solidFill>
                <a:latin typeface="微软雅黑"/>
              </a:rPr>
              <a:t>已确诊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646464"/>
                </a:solidFill>
                <a:latin typeface="微软雅黑"/>
              </a:rPr>
              <a:t>知乎早有共识，检出 0 处实质分歧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</a:rPr>
              <a:t>动作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21212"/>
                </a:solidFill>
                <a:latin typeface="微软雅黑"/>
              </a:rPr>
              <a:t>直接给共识结论 + 引用来源。</a:t>
            </a:r>
            <a:br/>
            <a:r>
              <a:rPr sz="1250" b="0">
                <a:solidFill>
                  <a:srgbClr val="121212"/>
                </a:solidFill>
                <a:latin typeface="微软雅黑"/>
              </a:rPr>
              <a:t>不请人，不浪费专家的时间。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828800"/>
            <a:ext cx="3401568" cy="2880360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2084831"/>
            <a:ext cx="28529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0084FF"/>
                </a:solidFill>
                <a:latin typeface="微软雅黑"/>
              </a:rPr>
              <a:t>存在真实分歧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646464"/>
                </a:solidFill>
                <a:latin typeface="微软雅黑"/>
              </a:rPr>
              <a:t>检出 2 个以上对立观点簇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</a:rPr>
              <a:t>动作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21212"/>
                </a:solidFill>
                <a:latin typeface="微软雅黑"/>
              </a:rPr>
              <a:t>走完整会诊：邀请函 → 异步证言</a:t>
            </a:r>
            <a:br/>
            <a:r>
              <a:rPr sz="1250" b="0">
                <a:solidFill>
                  <a:srgbClr val="121212"/>
                </a:solidFill>
                <a:latin typeface="微软雅黑"/>
              </a:rPr>
              <a:t>→ 同步合议 → 结论书。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4424" y="1828800"/>
            <a:ext cx="3401568" cy="2880360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2084831"/>
            <a:ext cx="28529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B8720A"/>
                </a:solidFill>
                <a:latin typeface="微软雅黑"/>
              </a:rPr>
              <a:t>信息不足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646464"/>
                </a:solidFill>
                <a:latin typeface="微软雅黑"/>
              </a:rPr>
              <a:t>存量内容稀疏，不足以下判断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</a:rPr>
              <a:t>动作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21212"/>
                </a:solidFill>
                <a:latin typeface="微软雅黑"/>
              </a:rPr>
              <a:t>不给结论，给一份可复制的提问草稿，</a:t>
            </a:r>
            <a:br/>
            <a:r>
              <a:rPr sz="1250" b="0">
                <a:solidFill>
                  <a:srgbClr val="121212"/>
                </a:solidFill>
                <a:latin typeface="微软雅黑"/>
              </a:rPr>
              <a:t>把问题交还给社区。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8348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13892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21212"/>
                </a:solidFill>
                <a:latin typeface="微软雅黑"/>
              </a:rPr>
              <a:t>一个只在你需要它的时候才出现的 AI，才值得信任。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5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05　核心机制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AI 不替你说心里话，也不替你把分歧抹平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029200" cy="31089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A5CAD"/>
                </a:solidFill>
                <a:latin typeface="微软雅黑"/>
              </a:rPr>
              <a:t>一 · 判断权还给用户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AI 给 2–3 个候选病灶假设，标注可能性；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由用户自己点选确认，不替他说出「心里话」。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21212"/>
                </a:solidFill>
                <a:latin typeface="微软雅黑"/>
              </a:rPr>
              <a:t>假设 A（较可能）时间窗口焦虑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21212"/>
                </a:solidFill>
                <a:latin typeface="微软雅黑"/>
              </a:rPr>
              <a:t>假设 B（可能）缺少可验证的第一步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3AF"/>
                </a:solidFill>
                <a:latin typeface="微软雅黑"/>
              </a:rPr>
              <a:t>假设 C（较弱）对能力要求有认知偏差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120640" cy="31089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A5CAD"/>
                </a:solidFill>
                <a:latin typeface="微软雅黑"/>
              </a:rPr>
              <a:t>二 · 少数意见独立成块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每条共识都标注来源计数，不虚构：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788920"/>
            <a:ext cx="4572000" cy="384048"/>
          </a:xfrm>
          <a:prstGeom prst="roundRect">
            <a:avLst>
              <a:gd name="adj" fmla="val 6000"/>
            </a:avLst>
          </a:prstGeom>
          <a:solidFill>
            <a:srgbClr val="E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287121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F6E56"/>
                </a:solidFill>
                <a:latin typeface="微软雅黑"/>
              </a:rPr>
              <a:t>共识 · 共识 4/4 位参与者一致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246120"/>
            <a:ext cx="4572000" cy="1234440"/>
          </a:xfrm>
          <a:prstGeom prst="roundRect">
            <a:avLst>
              <a:gd name="adj" fmla="val 6000"/>
            </a:avLst>
          </a:prstGeom>
          <a:solidFill>
            <a:srgbClr val="FFF8F8"/>
          </a:solidFill>
          <a:ln w="9525">
            <a:solidFill>
              <a:srgbClr val="FF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338328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1403C"/>
                </a:solidFill>
                <a:latin typeface="微软雅黑"/>
              </a:rPr>
              <a:t>少数意见（完整保留）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46464"/>
                </a:solidFill>
                <a:latin typeface="微软雅黑"/>
              </a:rPr>
              <a:t>苏晚：把结论写成「渠道可以自己造」，会让很多人在投了 200 份简历没有回音之后，觉得是自己不够努力。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12064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30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A5CAD"/>
                </a:solidFill>
                <a:latin typeface="微软雅黑"/>
              </a:rPr>
              <a:t>知乎的价值从来不是共识，是分歧被认真对待。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6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06　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创作者凭什么来？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38528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9AA3AF"/>
                </a:solidFill>
                <a:latin typeface="微软雅黑"/>
              </a:rPr>
              <a:t>邀请函写的是什么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3AF"/>
                </a:solidFill>
                <a:latin typeface="微软雅黑"/>
              </a:rPr>
              <a:t>✕　「一位学生的困惑需要你帮忙」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✓　「你在《转行进 AI 这一年》下的回答第 3 段，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　　 被 47 人收藏，正好回答了本场委托人的困惑」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0084FF"/>
                </a:solidFill>
                <a:latin typeface="微软雅黑"/>
              </a:rPr>
              <a:t>这是内容价值的召回，不是社交请求。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3852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6E56"/>
                </a:solidFill>
                <a:latin typeface="微软雅黑"/>
              </a:rPr>
              <a:t>一次参与 = 一篇内容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会诊结束自动生成《会诊手记》，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发布到参与者自己的主页。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微软雅黑"/>
              </a:rPr>
              <a:t>内容只由他自己说过的话重组而成，不新增事实。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6E56"/>
                </a:solidFill>
                <a:latin typeface="微软雅黑"/>
              </a:rPr>
              <a:t>他一个字都不用写。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21212"/>
                </a:solidFill>
                <a:latin typeface="微软雅黑"/>
              </a:rPr>
              <a:t>这一场会诊，四位参与者各自带走了一篇：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陈默《我在一个开源项目里待了 8 个月，然后被介绍了出去》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苏晚《我筛了 4000 份简历之后，想说说那 8%》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老周《我们院 31% 进大厂，但这个数字容易被误读》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6464"/>
                </a:solidFill>
                <a:latin typeface="微软雅黑"/>
              </a:rPr>
              <a:t>阿仓《投了 132 份简历，进 4 家面试，3 家来自内推》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250" b="0">
                <a:solidFill>
                  <a:srgbClr val="F1403C"/>
                </a:solidFill>
                <a:latin typeface="微软雅黑"/>
              </a:rPr>
              <a:t>注意第二篇 —— 那正是她的「少数意见」。她的反对，变成了她最有价值的一篇内容。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07　生态位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为什么不是在知乎现有形态上做增量？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07040" cy="7132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01952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知乎直答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01952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快问快答，即时获取信息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01952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AF"/>
                </a:solidFill>
                <a:latin typeface="微软雅黑"/>
              </a:rPr>
              <a:t>不给争议结构，不组织人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69464"/>
            <a:ext cx="10607040" cy="7132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88336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知乎圆桌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88336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主题式多人讨论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688336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AF"/>
                </a:solidFill>
                <a:latin typeface="微软雅黑"/>
              </a:rPr>
              <a:t>需要官方运营策划，周期以周计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5848"/>
            <a:ext cx="10607040" cy="7132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7472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付费咨询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7472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一对一向专家提问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47472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AF"/>
                </a:solidFill>
                <a:latin typeface="微软雅黑"/>
              </a:rPr>
              <a:t>单人视角，没有分歧结构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42232"/>
            <a:ext cx="10607040" cy="7132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61104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1212"/>
                </a:solidFill>
                <a:latin typeface="微软雅黑"/>
              </a:rPr>
              <a:t>提问 / 回答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61104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异步、开放、持续积累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261104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AF"/>
                </a:solidFill>
                <a:latin typeface="微软雅黑"/>
              </a:rPr>
              <a:t>一个人得到 1200 个回答，但没有人对他负责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28616"/>
            <a:ext cx="10607040" cy="713232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047488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A5CAD"/>
                </a:solidFill>
                <a:latin typeface="微软雅黑"/>
              </a:rPr>
              <a:t>知了诊所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047488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21212"/>
                </a:solidFill>
                <a:latin typeface="微软雅黑"/>
              </a:rPr>
              <a:t>把「一场圆桌」变成用户可随时发起、AI 全托管的原子能力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047488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A5CAD"/>
                </a:solidFill>
                <a:latin typeface="微软雅黑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1212"/>
                </a:solidFill>
                <a:latin typeface="微软雅黑"/>
              </a:rPr>
              <a:t>知乎解决的是「一个人的问题能被很多人看到」；我们解决的是「一个人的问题能被几个对的人认真讨论一次」。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8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84FF"/>
                </a:solidFill>
                <a:latin typeface="微软雅黑"/>
              </a:rPr>
              <a:t>08　完成度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212"/>
                </a:solidFill>
                <a:latin typeface="微软雅黑"/>
              </a:rPr>
              <a:t>不是概念稿，是能跑的产品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5029200" cy="27432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F6E56"/>
                </a:solidFill>
                <a:latin typeface="微软雅黑"/>
              </a:rPr>
              <a:t>已经做到的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三条判定分支全部跑通，可现场切换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会诊室三阶段（异步证言 / 同步合议 / 结论确认）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结论书含来源计数与少数意见独立区块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会诊手记、清单勾选进度、病历归档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结论书与行动清单一键复制带走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已适配手机，可直接用手机打开链接体验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已接入知乎开放平台（真实站内检索）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6464"/>
                </a:solidFill>
                <a:latin typeface="微软雅黑"/>
              </a:rPr>
              <a:t>· 19 个阶段截图 + 81 项断言，全绿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120640" cy="27432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2024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B8720A"/>
                </a:solidFill>
                <a:latin typeface="微软雅黑"/>
              </a:rPr>
              <a:t>诚实地说明边界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084FF"/>
                </a:solidFill>
                <a:latin typeface="微软雅黑"/>
              </a:rPr>
              <a:t>真跑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646464"/>
                </a:solidFill>
                <a:latin typeface="微软雅黑"/>
              </a:rPr>
              <a:t>内容检索与观点聚类、病历生成、三档判定、</a:t>
            </a:r>
            <a:br/>
            <a:r>
              <a:rPr sz="1150" b="0">
                <a:solidFill>
                  <a:srgbClr val="646464"/>
                </a:solidFill>
                <a:latin typeface="微软雅黑"/>
              </a:rPr>
              <a:t>会诊编排逻辑、结论书与行动清单生成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B8720A"/>
                </a:solidFill>
                <a:latin typeface="微软雅黑"/>
              </a:rPr>
              <a:t>模拟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646464"/>
                </a:solidFill>
                <a:latin typeface="微软雅黑"/>
              </a:rPr>
              <a:t>会诊参与者的身份（界面已标注「模拟参与者」）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9AA3AF"/>
                </a:solidFill>
                <a:latin typeface="微软雅黑"/>
              </a:rPr>
              <a:t>未做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646464"/>
                </a:solidFill>
                <a:latin typeface="微软雅黑"/>
              </a:rPr>
              <a:t>真实邀请通道、专家声誉体系、移动端适配、</a:t>
            </a:r>
            <a:br/>
            <a:r>
              <a:rPr sz="1150" b="0">
                <a:solidFill>
                  <a:srgbClr val="646464"/>
                </a:solidFill>
                <a:latin typeface="微软雅黑"/>
              </a:rPr>
              <a:t>登录与知乎 OAuth 接入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0916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21212"/>
                </a:solidFill>
                <a:latin typeface="微软雅黑"/>
              </a:rPr>
              <a:t>现场演示：按 P 自动演示，空格暂停讲解，R 一键重置 —— 全程不依赖网络。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9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AF"/>
                </a:solidFill>
                <a:latin typeface="微软雅黑"/>
              </a:rPr>
              <a:t>知了诊所 · 知乎 AI 黑客松 2026 · 知识炼金场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00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AI 不替代人回答，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AI 组织人对人负责。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6048" y="3749039"/>
            <a:ext cx="2286000" cy="36576"/>
          </a:xfrm>
          <a:prstGeom prst="roundRect">
            <a:avLst>
              <a:gd name="adj" fmla="val 0"/>
            </a:avLst>
          </a:prstGeom>
          <a:solidFill>
            <a:srgbClr val="9D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0690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知了诊所 —— 你的问题，挂号了。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7E2FF"/>
                </a:solidFill>
                <a:latin typeface="微软雅黑"/>
              </a:rPr>
              <a:t>知乎 AI 黑客松 2026 · 知识炼金场　·　团队名待填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